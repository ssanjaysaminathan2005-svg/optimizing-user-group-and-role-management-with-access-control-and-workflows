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395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663" y="1555749"/>
            <a:ext cx="6123305" cy="201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NM1051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–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SERVICENOW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ADMINISTRATOR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–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SMART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INTERNZ</a:t>
            </a:r>
            <a:endParaRPr sz="1600">
              <a:latin typeface="Times New Roman"/>
              <a:cs typeface="Times New Roman"/>
            </a:endParaRPr>
          </a:p>
          <a:p>
            <a:pPr marL="1387475" marR="279400" indent="-889000">
              <a:lnSpc>
                <a:spcPct val="209300"/>
              </a:lnSpc>
              <a:spcBef>
                <a:spcPts val="225"/>
              </a:spcBef>
            </a:pPr>
            <a:r>
              <a:rPr sz="1400" b="1" spc="-10" dirty="0">
                <a:latin typeface="Times New Roman"/>
                <a:cs typeface="Times New Roman"/>
              </a:rPr>
              <a:t>OPTIMIZING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USER,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GROUP,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ROLE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MANAGEMENT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WITH </a:t>
            </a:r>
            <a:r>
              <a:rPr sz="1400" b="1" dirty="0">
                <a:latin typeface="Times New Roman"/>
                <a:cs typeface="Times New Roman"/>
              </a:rPr>
              <a:t>ACCESS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CONTROL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WORKFLOWS</a:t>
            </a:r>
            <a:endParaRPr sz="1400">
              <a:latin typeface="Times New Roman"/>
              <a:cs typeface="Times New Roman"/>
            </a:endParaRPr>
          </a:p>
          <a:p>
            <a:pPr marL="271145" algn="ctr">
              <a:lnSpc>
                <a:spcPct val="100000"/>
              </a:lnSpc>
              <a:spcBef>
                <a:spcPts val="1535"/>
              </a:spcBef>
            </a:pP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REPORT</a:t>
            </a:r>
            <a:endParaRPr sz="1400">
              <a:latin typeface="Times New Roman"/>
              <a:cs typeface="Times New Roman"/>
            </a:endParaRPr>
          </a:p>
          <a:p>
            <a:pPr marL="314325" algn="ctr">
              <a:lnSpc>
                <a:spcPct val="100000"/>
              </a:lnSpc>
              <a:spcBef>
                <a:spcPts val="1560"/>
              </a:spcBef>
            </a:pPr>
            <a:r>
              <a:rPr sz="1400" b="1" i="1" dirty="0">
                <a:latin typeface="Times New Roman"/>
                <a:cs typeface="Times New Roman"/>
              </a:rPr>
              <a:t>Submitted</a:t>
            </a:r>
            <a:r>
              <a:rPr sz="1400" b="1" i="1" spc="-50" dirty="0">
                <a:latin typeface="Times New Roman"/>
                <a:cs typeface="Times New Roman"/>
              </a:rPr>
              <a:t> </a:t>
            </a:r>
            <a:r>
              <a:rPr sz="1400" b="1" i="1" spc="-25" dirty="0"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75027" y="3768697"/>
          <a:ext cx="3571239" cy="11576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7555"/>
                <a:gridCol w="1543684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SANJAY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700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(815422243022)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3045">
                <a:tc>
                  <a:txBody>
                    <a:bodyPr/>
                    <a:lstStyle/>
                    <a:p>
                      <a:pPr marL="31750">
                        <a:lnSpc>
                          <a:spcPts val="173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YOGESHWARAN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735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(815422243030)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3679">
                <a:tc>
                  <a:txBody>
                    <a:bodyPr/>
                    <a:lstStyle/>
                    <a:p>
                      <a:pPr marL="31750">
                        <a:lnSpc>
                          <a:spcPts val="1739"/>
                        </a:lnSpc>
                      </a:pPr>
                      <a:r>
                        <a:rPr sz="1600" b="1" smtClean="0">
                          <a:latin typeface="Times New Roman"/>
                          <a:cs typeface="Times New Roman"/>
                        </a:rPr>
                        <a:t>ROHITHA</a:t>
                      </a:r>
                      <a:r>
                        <a:rPr sz="1600" b="1" spc="-7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algn="ctr">
                        <a:lnSpc>
                          <a:spcPts val="1739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(815422243019)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3679">
                <a:tc>
                  <a:txBody>
                    <a:bodyPr/>
                    <a:lstStyle/>
                    <a:p>
                      <a:pPr marL="31750">
                        <a:lnSpc>
                          <a:spcPts val="1739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KANIGA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 algn="ctr">
                        <a:lnSpc>
                          <a:spcPts val="1739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(815422243008)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VISHNUPRIYA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 algn="ctr">
                        <a:lnSpc>
                          <a:spcPts val="1700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(815422243029)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05101" y="5670930"/>
            <a:ext cx="4084954" cy="152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BACHELOR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  <a:p>
            <a:pPr marL="1114425" marR="1098550" indent="831850">
              <a:lnSpc>
                <a:spcPct val="192100"/>
              </a:lnSpc>
              <a:spcBef>
                <a:spcPts val="225"/>
              </a:spcBef>
            </a:pPr>
            <a:r>
              <a:rPr sz="1400" b="1" spc="-25" dirty="0">
                <a:latin typeface="Times New Roman"/>
                <a:cs typeface="Times New Roman"/>
              </a:rPr>
              <a:t>IN </a:t>
            </a:r>
            <a:r>
              <a:rPr sz="1400" b="1" dirty="0">
                <a:latin typeface="Times New Roman"/>
                <a:cs typeface="Times New Roman"/>
              </a:rPr>
              <a:t>SEVENTH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SEMESTER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400" dirty="0">
                <a:latin typeface="Times New Roman"/>
                <a:cs typeface="Times New Roman"/>
              </a:rPr>
              <a:t>ARTIFICIAL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INTELLIGENCE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SCIENCE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1469" y="8719565"/>
            <a:ext cx="4295775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SRI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RAMAKRISHNA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sz="1600" b="1" dirty="0">
                <a:latin typeface="Times New Roman"/>
                <a:cs typeface="Times New Roman"/>
              </a:rPr>
              <a:t>ANNA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UNIVERSITY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CHENNAI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600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025</a:t>
            </a:r>
            <a:endParaRPr sz="16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760"/>
              </a:spcBef>
            </a:pPr>
            <a:r>
              <a:rPr sz="1400" b="1" dirty="0">
                <a:latin typeface="Times New Roman"/>
                <a:cs typeface="Times New Roman"/>
              </a:rPr>
              <a:t>NOV/DEC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2025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55" y="462279"/>
            <a:ext cx="1520570" cy="8724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0454" y="347319"/>
            <a:ext cx="1049655" cy="9907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1109" y="328967"/>
            <a:ext cx="1122044" cy="10063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7809" y="304799"/>
            <a:ext cx="1267320" cy="10332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58209" y="7418704"/>
            <a:ext cx="912494" cy="911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795019"/>
            <a:ext cx="6966584" cy="286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ANNA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UNIVERSITY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CHENNAI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600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025</a:t>
            </a:r>
            <a:endParaRPr sz="1800">
              <a:latin typeface="Times New Roman"/>
              <a:cs typeface="Times New Roman"/>
            </a:endParaRPr>
          </a:p>
          <a:p>
            <a:pPr marL="2210435" algn="just">
              <a:lnSpc>
                <a:spcPct val="100000"/>
              </a:lnSpc>
              <a:spcBef>
                <a:spcPts val="2000"/>
              </a:spcBef>
            </a:pPr>
            <a:r>
              <a:rPr sz="1600" b="1" dirty="0">
                <a:latin typeface="Times New Roman"/>
                <a:cs typeface="Times New Roman"/>
              </a:rPr>
              <a:t>BONAFIDE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CERTIFICATE</a:t>
            </a:r>
            <a:endParaRPr sz="1600">
              <a:latin typeface="Times New Roman"/>
              <a:cs typeface="Times New Roman"/>
            </a:endParaRPr>
          </a:p>
          <a:p>
            <a:pPr marL="12700" marR="5080" indent="354965" algn="just">
              <a:lnSpc>
                <a:spcPct val="1918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Certified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report</a:t>
            </a:r>
            <a:r>
              <a:rPr sz="1400" spc="17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“OPTIMIZING</a:t>
            </a:r>
            <a:r>
              <a:rPr sz="1400" b="1" spc="16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USER,</a:t>
            </a:r>
            <a:r>
              <a:rPr sz="1400" b="1" spc="155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GROUP,</a:t>
            </a:r>
            <a:r>
              <a:rPr sz="1400" b="1" spc="16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155" dirty="0">
                <a:latin typeface="Times New Roman"/>
                <a:cs typeface="Times New Roman"/>
              </a:rPr>
              <a:t>  </a:t>
            </a:r>
            <a:r>
              <a:rPr sz="1400" b="1" spc="-20" dirty="0">
                <a:latin typeface="Times New Roman"/>
                <a:cs typeface="Times New Roman"/>
              </a:rPr>
              <a:t>ROLE </a:t>
            </a:r>
            <a:r>
              <a:rPr sz="1400" b="1" dirty="0">
                <a:latin typeface="Times New Roman"/>
                <a:cs typeface="Times New Roman"/>
              </a:rPr>
              <a:t>MANAGEMENT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WITH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ACCESS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CONTROL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WORKFLOWS”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bonafide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work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“</a:t>
            </a:r>
            <a:r>
              <a:rPr sz="1300" b="1" dirty="0">
                <a:latin typeface="Times New Roman"/>
                <a:cs typeface="Times New Roman"/>
              </a:rPr>
              <a:t>SANJAY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S,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YOGESHWARAN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K,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ROHITHAA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</a:t>
            </a:r>
            <a:r>
              <a:rPr sz="1300" b="1" spc="19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,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KANIGA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R,</a:t>
            </a:r>
            <a:r>
              <a:rPr sz="1300" b="1" spc="17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VISHNUPRIYA</a:t>
            </a:r>
            <a:r>
              <a:rPr sz="1300" b="1" spc="1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</a:t>
            </a:r>
            <a:r>
              <a:rPr sz="1400" b="1" dirty="0">
                <a:latin typeface="Times New Roman"/>
                <a:cs typeface="Times New Roman"/>
              </a:rPr>
              <a:t>”</a:t>
            </a:r>
            <a:r>
              <a:rPr sz="1400" b="1" spc="1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who</a:t>
            </a:r>
            <a:endParaRPr sz="1400">
              <a:latin typeface="Times New Roman"/>
              <a:cs typeface="Times New Roman"/>
            </a:endParaRPr>
          </a:p>
          <a:p>
            <a:pPr marL="12700" marR="13335">
              <a:lnSpc>
                <a:spcPts val="3220"/>
              </a:lnSpc>
              <a:spcBef>
                <a:spcPts val="160"/>
              </a:spcBef>
            </a:pPr>
            <a:r>
              <a:rPr sz="1400" dirty="0">
                <a:latin typeface="Times New Roman"/>
                <a:cs typeface="Times New Roman"/>
              </a:rPr>
              <a:t>carried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supervision.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dissertation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been</a:t>
            </a:r>
            <a:r>
              <a:rPr sz="1400" spc="-10" dirty="0">
                <a:latin typeface="Times New Roman"/>
                <a:cs typeface="Times New Roman"/>
              </a:rPr>
              <a:t> submitted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degree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award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anywhere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before.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6994" y="5299186"/>
          <a:ext cx="5829300" cy="166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4650"/>
                <a:gridCol w="2914650"/>
              </a:tblGrid>
              <a:tr h="1660525">
                <a:tc>
                  <a:txBody>
                    <a:bodyPr/>
                    <a:lstStyle/>
                    <a:p>
                      <a:pPr marR="41275" algn="ctr">
                        <a:lnSpc>
                          <a:spcPts val="15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SIGNATURE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57150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Mrs.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A.REETA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JOLDRINE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b="1" spc="-10" dirty="0">
                          <a:latin typeface="Times New Roman"/>
                          <a:cs typeface="Times New Roman"/>
                        </a:rPr>
                        <a:t>M.E.,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R="3746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PROFESSOR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6129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AI&amp;DS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6383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Sri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Ramakrishna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College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163195" algn="ctr">
                        <a:lnSpc>
                          <a:spcPts val="1605"/>
                        </a:lnSpc>
                        <a:spcBef>
                          <a:spcPts val="6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Perambalur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005" algn="ctr">
                        <a:lnSpc>
                          <a:spcPts val="15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SIGNATURE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6860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Mr.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S.SIVABALAN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b="1" spc="-10" dirty="0">
                          <a:latin typeface="Times New Roman"/>
                          <a:cs typeface="Times New Roman"/>
                        </a:rPr>
                        <a:t>M.E.,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9527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399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AI&amp;DS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145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Sri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Ramakrishna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College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73050" algn="ctr">
                        <a:lnSpc>
                          <a:spcPts val="1605"/>
                        </a:lnSpc>
                        <a:spcBef>
                          <a:spcPts val="6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Perambalur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24331" y="7650860"/>
            <a:ext cx="5369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Submitted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University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Practical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Examination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held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on……………….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40" y="9006077"/>
            <a:ext cx="1997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INTERNAL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EXAMINER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0357" y="9006077"/>
            <a:ext cx="2047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EXTERNAL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EXAMINER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6251"/>
            <a:ext cx="5768340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ProblemContext:</a:t>
            </a:r>
            <a:endParaRPr sz="1600">
              <a:latin typeface="Times New Roman"/>
              <a:cs typeface="Times New Roman"/>
            </a:endParaRPr>
          </a:p>
          <a:p>
            <a:pPr marL="12700" marR="5080" indent="878840" algn="just">
              <a:lnSpc>
                <a:spcPct val="143900"/>
              </a:lnSpc>
              <a:spcBef>
                <a:spcPts val="969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smallproject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aProject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Manager(Alice)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aTeamMember </a:t>
            </a:r>
            <a:r>
              <a:rPr sz="1200" dirty="0">
                <a:latin typeface="Times New Roman"/>
                <a:cs typeface="Times New Roman"/>
              </a:rPr>
              <a:t>(Bob)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areresponsible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deliveringtasks.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However,theabsence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ofwell-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roles,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access </a:t>
            </a:r>
            <a:r>
              <a:rPr sz="1200" dirty="0">
                <a:latin typeface="Times New Roman"/>
                <a:cs typeface="Times New Roman"/>
              </a:rPr>
              <a:t>restrictions,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workflows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creates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responsibilities, accountability,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monitoring.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721609"/>
            <a:ext cx="5396865" cy="217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Objectives:</a:t>
            </a:r>
            <a:endParaRPr sz="1600">
              <a:latin typeface="Times New Roman"/>
              <a:cs typeface="Times New Roman"/>
            </a:endParaRPr>
          </a:p>
          <a:p>
            <a:pPr marL="12700" marR="234315" indent="158115">
              <a:lnSpc>
                <a:spcPct val="144400"/>
              </a:lnSpc>
              <a:spcBef>
                <a:spcPts val="960"/>
              </a:spcBef>
              <a:buAutoNum type="arabicPeriod"/>
              <a:tabLst>
                <a:tab pos="17081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RoleDefinition: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ClearlyoutlinethedutiesofAliceasProject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ManagerandBobasTeam </a:t>
            </a:r>
            <a:r>
              <a:rPr sz="1200" dirty="0">
                <a:latin typeface="Times New Roman"/>
                <a:cs typeface="Times New Roman"/>
              </a:rPr>
              <a:t>Member,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responsibility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boundaries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transparent.</a:t>
            </a:r>
            <a:endParaRPr sz="1200">
              <a:latin typeface="Times New Roman"/>
              <a:cs typeface="Times New Roman"/>
            </a:endParaRPr>
          </a:p>
          <a:p>
            <a:pPr marL="12700" marR="64135" indent="168910">
              <a:lnSpc>
                <a:spcPct val="141700"/>
              </a:lnSpc>
              <a:spcBef>
                <a:spcPts val="840"/>
              </a:spcBef>
              <a:buAutoNum type="arabicPeriod"/>
              <a:tabLst>
                <a:tab pos="18161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AccessControl: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Introducemechanismsthat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Bob’sabilityto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createoredit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projects </a:t>
            </a:r>
            <a:r>
              <a:rPr sz="1200" dirty="0">
                <a:latin typeface="Times New Roman"/>
                <a:cs typeface="Times New Roman"/>
              </a:rPr>
              <a:t>beyond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hisassigned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stillallowing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himto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hisresponsibilities.</a:t>
            </a:r>
            <a:endParaRPr sz="1200">
              <a:latin typeface="Times New Roman"/>
              <a:cs typeface="Times New Roman"/>
            </a:endParaRPr>
          </a:p>
          <a:p>
            <a:pPr marL="12700" marR="5080" indent="152400">
              <a:lnSpc>
                <a:spcPct val="145800"/>
              </a:lnSpc>
              <a:spcBef>
                <a:spcPts val="730"/>
              </a:spcBef>
              <a:buAutoNum type="arabicPeriod"/>
              <a:tabLst>
                <a:tab pos="1651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WorkflowOrganization: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Establishastructuredprocessthat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enablesAliceto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assignwork,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oversee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manner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654549"/>
            <a:ext cx="5480685" cy="38398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744813"/>
            <a:ext cx="6174740" cy="372364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30"/>
              </a:spcBef>
            </a:pPr>
            <a:r>
              <a:rPr sz="1600" b="1" spc="-20" dirty="0">
                <a:latin typeface="Times New Roman"/>
                <a:cs typeface="Times New Roman"/>
              </a:rPr>
              <a:t>KeySkills/Tools:</a:t>
            </a:r>
            <a:r>
              <a:rPr sz="1200" spc="-20" dirty="0">
                <a:latin typeface="Times New Roman"/>
                <a:cs typeface="Times New Roman"/>
              </a:rPr>
              <a:t>Users,Groups,Roles,Tables,AccessControlLists(ACL),</a:t>
            </a:r>
            <a:r>
              <a:rPr sz="1100" spc="-20" dirty="0">
                <a:latin typeface="Times New Roman"/>
                <a:cs typeface="Times New Roman"/>
              </a:rPr>
              <a:t>Workflow/Flow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Designer.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400" b="1" spc="-10" dirty="0">
                <a:latin typeface="Times New Roman"/>
                <a:cs typeface="Times New Roman"/>
              </a:rPr>
              <a:t>TASKINITIATION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600" spc="-10" dirty="0">
                <a:latin typeface="Times New Roman"/>
                <a:cs typeface="Times New Roman"/>
              </a:rPr>
              <a:t>Milestone1:Users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200" spc="-10" dirty="0">
                <a:latin typeface="Times New Roman"/>
                <a:cs typeface="Times New Roman"/>
              </a:rPr>
              <a:t>Activity1:CreateUsers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forusers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SelectUsersunder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systemsecurity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onnew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Fillthefollowingdetailsto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createanewuser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/>
              <a:tabLst>
                <a:tab pos="1250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27554"/>
            <a:ext cx="5681345" cy="39201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4456"/>
            <a:ext cx="2681605" cy="98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Createonemoreuser:</a:t>
            </a:r>
            <a:endParaRPr sz="14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1560"/>
              </a:spcBef>
              <a:buAutoNum type="arabicPeriod" startAt="7"/>
              <a:tabLst>
                <a:tab pos="163195" algn="l"/>
              </a:tabLst>
            </a:pPr>
            <a:r>
              <a:rPr sz="1200" spc="-20" dirty="0">
                <a:latin typeface="Times New Roman"/>
                <a:cs typeface="Times New Roman"/>
              </a:rPr>
              <a:t>Createanotheruserwiththefollowingdetails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7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7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588632"/>
            <a:ext cx="2736850" cy="2936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Milestone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600" spc="-10" dirty="0">
                <a:latin typeface="Times New Roman"/>
                <a:cs typeface="Times New Roman"/>
              </a:rPr>
              <a:t>Activity1:CreateGroups</a:t>
            </a:r>
            <a:endParaRPr sz="16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forgroups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Selectgroupsundersystemsecurity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onnew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Fillthefollowingdetailsto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createanewgroup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045959"/>
            <a:ext cx="5464048" cy="25571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3924426"/>
            <a:ext cx="2557145" cy="293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Milestone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Roles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600" spc="-10" dirty="0">
                <a:latin typeface="Times New Roman"/>
                <a:cs typeface="Times New Roman"/>
              </a:rPr>
              <a:t>Activity1:Createroles</a:t>
            </a:r>
            <a:endParaRPr sz="16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forroles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Selectrolesundersystemsecurity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onnew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spc="-20" dirty="0">
                <a:latin typeface="Times New Roman"/>
                <a:cs typeface="Times New Roman"/>
              </a:rPr>
              <a:t>Fillthefollowingdetailstocreateanewrole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88999"/>
            <a:ext cx="5657850" cy="284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27554"/>
            <a:ext cx="5768975" cy="30238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4456"/>
            <a:ext cx="2664460" cy="98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Createonemorerole:</a:t>
            </a:r>
            <a:endParaRPr sz="1400">
              <a:latin typeface="Times New Roman"/>
              <a:cs typeface="Times New Roman"/>
            </a:endParaRPr>
          </a:p>
          <a:p>
            <a:pPr marL="163195" indent="-127000">
              <a:lnSpc>
                <a:spcPct val="100000"/>
              </a:lnSpc>
              <a:spcBef>
                <a:spcPts val="1560"/>
              </a:spcBef>
              <a:buSzPct val="95833"/>
              <a:buAutoNum type="arabicPeriod" startAt="7"/>
              <a:tabLst>
                <a:tab pos="163195" algn="l"/>
              </a:tabLst>
            </a:pPr>
            <a:r>
              <a:rPr sz="1200" spc="-20" dirty="0">
                <a:latin typeface="Times New Roman"/>
                <a:cs typeface="Times New Roman"/>
              </a:rPr>
              <a:t>Createanotherrolewiththefollowingdetails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7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 startAt="7"/>
              <a:tabLst>
                <a:tab pos="1250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638926"/>
            <a:ext cx="3217545" cy="4029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Milestone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  <a:spcBef>
                <a:spcPts val="1635"/>
              </a:spcBef>
            </a:pPr>
            <a:r>
              <a:rPr sz="1600" spc="-10" dirty="0">
                <a:latin typeface="Times New Roman"/>
                <a:cs typeface="Times New Roman"/>
              </a:rPr>
              <a:t>Activity1:CreateTable</a:t>
            </a:r>
            <a:endParaRPr sz="1600">
              <a:latin typeface="Times New Roman"/>
              <a:cs typeface="Times New Roman"/>
            </a:endParaRPr>
          </a:p>
          <a:p>
            <a:pPr marL="201295" indent="-150495">
              <a:lnSpc>
                <a:spcPct val="100000"/>
              </a:lnSpc>
              <a:spcBef>
                <a:spcPts val="1695"/>
              </a:spcBef>
              <a:buAutoNum type="arabicPeriod"/>
              <a:tabLst>
                <a:tab pos="20129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fortables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1295" indent="-150495">
              <a:lnSpc>
                <a:spcPct val="100000"/>
              </a:lnSpc>
              <a:buAutoNum type="arabicPeriod"/>
              <a:tabLst>
                <a:tab pos="2012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Selecttablesunder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systemdefinition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1295" indent="-150495">
              <a:lnSpc>
                <a:spcPct val="100000"/>
              </a:lnSpc>
              <a:buAutoNum type="arabicPeriod"/>
              <a:tabLst>
                <a:tab pos="2012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onnew</a:t>
            </a:r>
            <a:endParaRPr sz="1200">
              <a:latin typeface="Times New Roman"/>
              <a:cs typeface="Times New Roman"/>
            </a:endParaRPr>
          </a:p>
          <a:p>
            <a:pPr marL="12700" marR="607695" indent="150495">
              <a:lnSpc>
                <a:spcPct val="199400"/>
              </a:lnSpc>
              <a:spcBef>
                <a:spcPts val="20"/>
              </a:spcBef>
              <a:buAutoNum type="arabicPeriod"/>
              <a:tabLst>
                <a:tab pos="163195" algn="l"/>
              </a:tabLst>
            </a:pPr>
            <a:r>
              <a:rPr sz="1200" spc="-20" dirty="0">
                <a:latin typeface="Times New Roman"/>
                <a:cs typeface="Times New Roman"/>
              </a:rPr>
              <a:t>Fillthefollowingdetailstocreateanewtable </a:t>
            </a:r>
            <a:r>
              <a:rPr sz="1200" dirty="0">
                <a:latin typeface="Times New Roman"/>
                <a:cs typeface="Times New Roman"/>
              </a:rPr>
              <a:t>Label: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table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ChecktheboxesCreatemodule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&amp;Createmobilemodule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6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Undernew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menuname:projecttable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6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Undertablecolumnsgivethecolumns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777864"/>
            <a:ext cx="5415661" cy="34632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5381370"/>
            <a:ext cx="1097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8.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onsubmit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88999"/>
            <a:ext cx="6184265" cy="39771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27554"/>
            <a:ext cx="5750559" cy="34328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4456"/>
            <a:ext cx="3699510" cy="98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Createonemoretable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spcBef>
                <a:spcPts val="1560"/>
              </a:spcBef>
              <a:buSzPct val="95833"/>
              <a:buAutoNum type="arabicPeriod" startAt="9"/>
              <a:tabLst>
                <a:tab pos="125095" algn="l"/>
              </a:tabLst>
            </a:pPr>
            <a:r>
              <a:rPr sz="1200" spc="-20" dirty="0">
                <a:latin typeface="Times New Roman"/>
                <a:cs typeface="Times New Roman"/>
              </a:rPr>
              <a:t>Createanothertableas:tasktable2andfillwithfollowingdetails.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9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 startAt="9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Clickonsubmit.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597778"/>
            <a:ext cx="3374390" cy="33102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Milestone5:Assignuserstogroups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600" spc="-20" dirty="0">
                <a:latin typeface="Times New Roman"/>
                <a:cs typeface="Times New Roman"/>
              </a:rPr>
              <a:t>Activity1:Assignuserstoprojectteamgroup</a:t>
            </a:r>
            <a:endParaRPr sz="1600">
              <a:latin typeface="Times New Roman"/>
              <a:cs typeface="Times New Roman"/>
            </a:endParaRPr>
          </a:p>
          <a:p>
            <a:pPr marL="164465" indent="-117475">
              <a:lnSpc>
                <a:spcPct val="100000"/>
              </a:lnSpc>
              <a:spcBef>
                <a:spcPts val="1720"/>
              </a:spcBef>
              <a:buSzPct val="91666"/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17475">
              <a:lnSpc>
                <a:spcPct val="100000"/>
              </a:lnSpc>
              <a:buSzPct val="91666"/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forgroups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Selecttablesunder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systemdefinition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Selecttheprojectteamgroup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5"/>
              </a:spcBef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Undergroupmembers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Clickonedit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Selectalicepandbobpandsave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07506"/>
            <a:ext cx="3383279" cy="367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Milestone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6: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Assign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roles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600" spc="-10" dirty="0">
                <a:latin typeface="Times New Roman"/>
                <a:cs typeface="Times New Roman"/>
              </a:rPr>
              <a:t>Activity1:Assignrolestoaliceuser</a:t>
            </a:r>
            <a:endParaRPr sz="16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1695"/>
              </a:spcBef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Openservicenow.ClickonAll&gt;&gt;searchforuser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5"/>
              </a:spcBef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Selecttablesunder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systemdefinition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Selecttheproject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manageruser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Underprojectmanager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Clickonedit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17475">
              <a:lnSpc>
                <a:spcPct val="100000"/>
              </a:lnSpc>
              <a:buSzPct val="91666"/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Selectprojectmemberandsave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5"/>
              </a:spcBef>
              <a:buSzPct val="91666"/>
              <a:buAutoNum type="arabicPeriod"/>
              <a:tabLst>
                <a:tab pos="126364" algn="l"/>
              </a:tabLst>
            </a:pPr>
            <a:r>
              <a:rPr sz="1200" spc="-20" dirty="0">
                <a:latin typeface="Times New Roman"/>
                <a:cs typeface="Times New Roman"/>
              </a:rPr>
              <a:t>clickoneditaddu_project_tableroleandu_task_tablerole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buSzPct val="91666"/>
              <a:buAutoNum type="arabicPeriod"/>
              <a:tabLst>
                <a:tab pos="126364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clickonsaveandupdatetheform.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888999"/>
            <a:ext cx="5771896" cy="37890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439282"/>
            <a:ext cx="2857500" cy="3221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Activity2:Assignrolestobobuser</a:t>
            </a:r>
            <a:endParaRPr sz="16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1685"/>
              </a:spcBef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Openservicenow.ClickonAll&gt;&gt;searchforuser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Selecttablesunder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systemdefinition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spcBef>
                <a:spcPts val="5"/>
              </a:spcBef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Selectthebobp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spcBef>
                <a:spcPts val="5"/>
              </a:spcBef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Underteammember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Clickonedit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Selectteammemberandgivetableroleandsave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ClickonprofileiconImpersonate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usertobob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SzPct val="95833"/>
              <a:buAutoNum type="arabicPeriod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cansee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tasktable2.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888999"/>
            <a:ext cx="5754370" cy="3961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6643369"/>
            <a:ext cx="5513070" cy="27619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3514471"/>
            <a:ext cx="4613275" cy="294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Milestone7:Applicationaccess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600" spc="-10" dirty="0">
                <a:latin typeface="Times New Roman"/>
                <a:cs typeface="Times New Roman"/>
              </a:rPr>
              <a:t>Activity1:Assigntableaccesstoapplication</a:t>
            </a:r>
            <a:endParaRPr sz="16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695"/>
              </a:spcBef>
              <a:buAutoNum type="arabicPeriod"/>
              <a:tabLst>
                <a:tab pos="165100" algn="l"/>
              </a:tabLst>
            </a:pPr>
            <a:r>
              <a:rPr sz="1200" spc="-20" dirty="0">
                <a:latin typeface="Times New Roman"/>
                <a:cs typeface="Times New Roman"/>
              </a:rPr>
              <a:t>whilecreatingatableitautomaticallycreateapplicationandmoduleforthattable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Gotoapplicationnavigatorsearchforsearchprojecttableapplication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Clickoneditmodule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Giveprojectmemberrolestothatapplication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Searchfortasktable2and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oneditapplication.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Givetheprojectmemberandteammemberrolefortasktable2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88999"/>
            <a:ext cx="5777865" cy="24954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614419"/>
            <a:ext cx="5756275" cy="34667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63599"/>
            <a:ext cx="3222625" cy="2563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Milestone8:Accesscontrollist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Activity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Create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AC</a:t>
            </a:r>
            <a:r>
              <a:rPr sz="1600" spc="-25" dirty="0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1670"/>
              </a:spcBef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ClickonAll&gt;&gt;search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forACL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SelectAccessControl(ACL)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undersystemsecurity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Clickonelevaterole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AutoNum type="arabicPeriod"/>
              <a:tabLst>
                <a:tab pos="16446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onnew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227188"/>
            <a:ext cx="2734945" cy="239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100"/>
              </a:spcBef>
              <a:buSzPct val="95833"/>
              <a:buAutoNum type="arabicPeriod" startAt="6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Fillthefollowingdetailsto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createanewACL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5"/>
              </a:spcBef>
              <a:buSzPct val="95833"/>
              <a:buAutoNum type="arabicPeriod" startAt="6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Scrolldownunderrequiresrole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5"/>
              </a:spcBef>
              <a:buSzPct val="95833"/>
              <a:buAutoNum type="arabicPeriod" startAt="6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Doubleclickoninsertanewrow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SzPct val="95833"/>
              <a:buAutoNum type="arabicPeriod" startAt="6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Givetasktableandteammemberrole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 startAt="6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Clickonsubmit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 startAt="6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Similarlycreate4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aclforthefollowingfields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200660" indent="-194945">
              <a:lnSpc>
                <a:spcPct val="100000"/>
              </a:lnSpc>
              <a:buSzPct val="95833"/>
              <a:buAutoNum type="arabicPeriod" startAt="6"/>
              <a:tabLst>
                <a:tab pos="200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Clickonprofile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ontoprightside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802629"/>
            <a:ext cx="5784215" cy="29715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5979"/>
            <a:ext cx="4473575" cy="475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94945">
              <a:lnSpc>
                <a:spcPct val="100000"/>
              </a:lnSpc>
              <a:spcBef>
                <a:spcPts val="100"/>
              </a:spcBef>
              <a:buSzPct val="95833"/>
              <a:buAutoNum type="arabicPeriod" startAt="13"/>
              <a:tabLst>
                <a:tab pos="200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Clickonimpersonateuser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13"/>
            </a:pPr>
            <a:endParaRPr sz="1200">
              <a:latin typeface="Times New Roman"/>
              <a:cs typeface="Times New Roman"/>
            </a:endParaRPr>
          </a:p>
          <a:p>
            <a:pPr marL="200660" indent="-194945">
              <a:lnSpc>
                <a:spcPct val="100000"/>
              </a:lnSpc>
              <a:buSzPct val="95833"/>
              <a:buAutoNum type="arabicPeriod" startAt="13"/>
              <a:tabLst>
                <a:tab pos="200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bobuser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 startAt="13"/>
            </a:pPr>
            <a:endParaRPr sz="1200">
              <a:latin typeface="Times New Roman"/>
              <a:cs typeface="Times New Roman"/>
            </a:endParaRPr>
          </a:p>
          <a:p>
            <a:pPr marL="200660" indent="-194945">
              <a:lnSpc>
                <a:spcPct val="100000"/>
              </a:lnSpc>
              <a:buSzPct val="95833"/>
              <a:buAutoNum type="arabicPeriod" startAt="13"/>
              <a:tabLst>
                <a:tab pos="200660" algn="l"/>
              </a:tabLst>
            </a:pPr>
            <a:r>
              <a:rPr sz="1200" spc="-20" dirty="0">
                <a:latin typeface="Times New Roman"/>
                <a:cs typeface="Times New Roman"/>
              </a:rPr>
              <a:t>Gotoallandselecttasktable2intheapplication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menubar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imes New Roman"/>
              <a:buAutoNum type="arabicPeriod" startAt="13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 startAt="13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Commentandstatusfields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havetheeditaccess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3550"/>
              </a:lnSpc>
              <a:spcBef>
                <a:spcPts val="135"/>
              </a:spcBef>
            </a:pPr>
            <a:r>
              <a:rPr sz="1600" spc="-10" dirty="0">
                <a:latin typeface="Times New Roman"/>
                <a:cs typeface="Times New Roman"/>
              </a:rPr>
              <a:t>Milestone9:Flow </a:t>
            </a:r>
            <a:r>
              <a:rPr sz="1600" spc="-20" dirty="0">
                <a:latin typeface="Times New Roman"/>
                <a:cs typeface="Times New Roman"/>
              </a:rPr>
              <a:t>Activity1:CreateaFlowtoAssignoperationstickettogroup</a:t>
            </a:r>
            <a:endParaRPr sz="16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330"/>
              </a:spcBef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Openservicenow.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onAll&gt;&gt;searchforFlow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ClickonFlowDesignerunderProcessAutomation.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3200" indent="-152400">
              <a:lnSpc>
                <a:spcPct val="100000"/>
              </a:lnSpc>
              <a:buAutoNum type="arabicPeriod"/>
              <a:tabLst>
                <a:tab pos="203200" algn="l"/>
              </a:tabLst>
            </a:pPr>
            <a:r>
              <a:rPr sz="1200" spc="-10" dirty="0">
                <a:latin typeface="Times New Roman"/>
                <a:cs typeface="Times New Roman"/>
              </a:rPr>
              <a:t>AfteropeningFlowDesignerClickonnewandselectFlow.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UnderFlowpropertiesGiveFlowNameas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“tasktable”.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ApplicationshouldbeGlobal.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Clickbuildflow.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905493"/>
            <a:ext cx="14598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nextstep: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onAdda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trigger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568949"/>
            <a:ext cx="5535930" cy="31648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5979"/>
            <a:ext cx="4733925" cy="462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SelectthetriggerinthatSearchfor“createrecord”andselectthat.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2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Givethetablenameas“tasktable”.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2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GivetheConditionasField:statusOperator:isValue:inprogress</a:t>
            </a:r>
            <a:endParaRPr sz="1200">
              <a:latin typeface="Times New Roman"/>
              <a:cs typeface="Times New Roman"/>
            </a:endParaRPr>
          </a:p>
          <a:p>
            <a:pPr marL="1541145" marR="177165">
              <a:lnSpc>
                <a:spcPct val="1992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Field:commentsOperator:isValue:feedback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Field: </a:t>
            </a:r>
            <a:r>
              <a:rPr sz="1200" dirty="0">
                <a:latin typeface="Times New Roman"/>
                <a:cs typeface="Times New Roman"/>
              </a:rPr>
              <a:t>assigned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bob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5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AfterthatclickonDone.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50"/>
              </a:spcBef>
            </a:pPr>
            <a:r>
              <a:rPr sz="1400" spc="-10" dirty="0">
                <a:latin typeface="Times New Roman"/>
                <a:cs typeface="Times New Roman"/>
              </a:rPr>
              <a:t>Nextstep:</a:t>
            </a:r>
            <a:endParaRPr sz="14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spcBef>
                <a:spcPts val="1585"/>
              </a:spcBef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ClickonAddanaction.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Selectactioninthat,searchfor“updaterecords”.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InRecordfield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dragthefieldsfromthedatanavigation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fromRightSide(Datapill)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Tablewillbeautoassignedafterthat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Addfieldsas“status”andvalueas“completed”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lvl="1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onDone.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6036309"/>
            <a:ext cx="5463032" cy="26841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54456"/>
            <a:ext cx="4546600" cy="499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Nextstep:</a:t>
            </a:r>
            <a:endParaRPr sz="14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1560"/>
              </a:spcBef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NowunderActions.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ClickonAddanaction.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Selectactioninthat,searchfor“askforapproval”.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InRecordfield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dragthefieldsfromthedatanavigationfromRightside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Tablewillbeautoassignedafterthat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Givetheapprovefieldas“status”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1295" indent="-150495">
              <a:lnSpc>
                <a:spcPct val="100000"/>
              </a:lnSpc>
              <a:buSzPct val="95833"/>
              <a:buAutoNum type="arabicPeriod"/>
              <a:tabLst>
                <a:tab pos="201295" algn="l"/>
              </a:tabLst>
            </a:pPr>
            <a:r>
              <a:rPr sz="1200" spc="-10" dirty="0">
                <a:latin typeface="Times New Roman"/>
                <a:cs typeface="Times New Roman"/>
              </a:rPr>
              <a:t>Giveapproverasalicep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SzPct val="95833"/>
              <a:buAutoNum type="arabicPeriod"/>
              <a:tabLst>
                <a:tab pos="163195" algn="l"/>
              </a:tabLst>
            </a:pP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onDone.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5095" indent="-121920">
              <a:lnSpc>
                <a:spcPct val="100000"/>
              </a:lnSpc>
              <a:buSzPct val="95833"/>
              <a:buAutoNum type="arabicPeriod"/>
              <a:tabLst>
                <a:tab pos="125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Gotoapplicationnavigatorsearchfortasktable.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Itstatusfieldisupdatedtocompleted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0660" indent="-194945">
              <a:lnSpc>
                <a:spcPct val="100000"/>
              </a:lnSpc>
              <a:buSzPct val="95833"/>
              <a:buAutoNum type="arabicPeriod"/>
              <a:tabLst>
                <a:tab pos="200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Gotoapplication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navigatorandsearchfor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myapproval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00660" indent="-194945">
              <a:lnSpc>
                <a:spcPct val="100000"/>
              </a:lnSpc>
              <a:buSzPct val="95833"/>
              <a:buAutoNum type="arabicPeriod"/>
              <a:tabLst>
                <a:tab pos="200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Clickonmyapprovalundertheservice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desk.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238760" indent="-226060">
              <a:lnSpc>
                <a:spcPct val="100000"/>
              </a:lnSpc>
              <a:buSzPct val="95833"/>
              <a:buAutoNum type="arabicPeriod"/>
              <a:tabLst>
                <a:tab pos="238760" algn="l"/>
              </a:tabLst>
            </a:pPr>
            <a:r>
              <a:rPr sz="1200" spc="-10" dirty="0">
                <a:latin typeface="Times New Roman"/>
                <a:cs typeface="Times New Roman"/>
              </a:rPr>
              <a:t>Alicepgot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approvalrequestthenrightclickonrequestedthenselectapproved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503"/>
            <a:ext cx="5755640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Conclusion: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837565" algn="just">
              <a:lnSpc>
                <a:spcPct val="143900"/>
              </a:lnSpc>
              <a:spcBef>
                <a:spcPts val="88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approachprovides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streamlined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systemfor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defining </a:t>
            </a:r>
            <a:r>
              <a:rPr sz="1200" dirty="0">
                <a:latin typeface="Times New Roman"/>
                <a:cs typeface="Times New Roman"/>
              </a:rPr>
              <a:t>roles,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restrictions,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workflows.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collaborate </a:t>
            </a:r>
            <a:r>
              <a:rPr sz="1200" dirty="0">
                <a:latin typeface="Times New Roman"/>
                <a:cs typeface="Times New Roman"/>
              </a:rPr>
              <a:t>effectively,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accountability,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simplifies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 delivery.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200" y="4664075"/>
            <a:ext cx="66672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 smtClean="0">
                <a:latin typeface="Times New Roman" pitchFamily="18" charset="0"/>
                <a:cs typeface="Times New Roman" pitchFamily="18" charset="0"/>
              </a:rPr>
              <a:t>CERTIFICATE</a:t>
            </a:r>
            <a:r>
              <a:rPr lang="en-IN" sz="2000" dirty="0" smtClean="0"/>
              <a:t>: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11-04 195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565277" y="1581151"/>
            <a:ext cx="10699752" cy="75692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11-04 1957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565276" y="1565276"/>
            <a:ext cx="10699752" cy="7569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635</Words>
  <Application>Microsoft Office PowerPoint</Application>
  <PresentationFormat>Custom</PresentationFormat>
  <Paragraphs>273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SANJAY SENTRY</cp:lastModifiedBy>
  <cp:revision>3</cp:revision>
  <dcterms:created xsi:type="dcterms:W3CDTF">2025-11-04T14:21:19Z</dcterms:created>
  <dcterms:modified xsi:type="dcterms:W3CDTF">2025-11-04T14:34:51Z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2025-11-04T00:00:00Z</vt:filetime>
  </property>
  <property fmtid="{D5CDD505-2E9C-101B-9397-08002B2CF9AE}" pid="5" name="Producer">
    <vt:lpwstr>3-Heights(TM) PDF Security Shell 4.8.25.2 (http://www.pdf-tools.com)</vt:lpwstr>
  </property>
</Properties>
</file>